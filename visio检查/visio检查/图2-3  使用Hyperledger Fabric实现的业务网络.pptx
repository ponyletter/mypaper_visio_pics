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76200-427E-4E18-9B35-8FEF8E85CB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1C422-9722-4222-B8A4-2A0C5C73A5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01C422-9722-4222-B8A4-2A0C5C73A5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190E-87F8-48AE-9B9C-3A90BC79BC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C5E75-792C-479E-81F6-5A983DB40B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/>
          <p:cNvGrpSpPr/>
          <p:nvPr/>
        </p:nvGrpSpPr>
        <p:grpSpPr>
          <a:xfrm>
            <a:off x="475255" y="958849"/>
            <a:ext cx="11389803" cy="4757521"/>
            <a:chOff x="475255" y="958849"/>
            <a:chExt cx="11389803" cy="4757521"/>
          </a:xfrm>
        </p:grpSpPr>
        <p:sp>
          <p:nvSpPr>
            <p:cNvPr id="4" name="椭圆 3"/>
            <p:cNvSpPr/>
            <p:nvPr/>
          </p:nvSpPr>
          <p:spPr>
            <a:xfrm>
              <a:off x="2400299" y="3324225"/>
              <a:ext cx="7096125" cy="83820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2997337" y="4476750"/>
              <a:ext cx="2254383" cy="1239620"/>
              <a:chOff x="2997337" y="4476750"/>
              <a:chExt cx="2254383" cy="1239620"/>
            </a:xfrm>
          </p:grpSpPr>
          <p:sp>
            <p:nvSpPr>
              <p:cNvPr id="14" name="矩形: 圆角 13"/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双波形 14"/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Times New Roman" panose="02020603050405020304" pitchFamily="18" charset="0"/>
                    <a:ea typeface="宋体" panose="02010600030101010101" pitchFamily="2" charset="-122"/>
                    <a:cs typeface="Ebrima" panose="02000000000000000000" pitchFamily="2" charset="0"/>
                  </a:rPr>
                  <a:t>账本</a:t>
                </a:r>
                <a:endParaRPr lang="zh-CN" altLang="en-US" sz="1300" dirty="0">
                  <a:latin typeface="Times New Roman" panose="02020603050405020304" pitchFamily="18" charset="0"/>
                  <a:ea typeface="宋体" panose="02010600030101010101" pitchFamily="2" charset="-122"/>
                  <a:cs typeface="Ebrima" panose="02000000000000000000" pitchFamily="2" charset="0"/>
                </a:endParaRPr>
              </a:p>
            </p:txBody>
          </p:sp>
          <p:sp>
            <p:nvSpPr>
              <p:cNvPr id="17" name="矩形: 折角 16"/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ea typeface="宋体" panose="02010600030101010101" pitchFamily="2" charset="-122"/>
                  </a:rPr>
                  <a:t>节点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2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ea typeface="宋体" panose="02010600030101010101" pitchFamily="2" charset="-122"/>
                  </a:rPr>
                  <a:t>智能合约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 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6680475" y="4462762"/>
              <a:ext cx="2254383" cy="1239620"/>
              <a:chOff x="2997337" y="4476750"/>
              <a:chExt cx="2254383" cy="1239620"/>
            </a:xfrm>
          </p:grpSpPr>
          <p:sp>
            <p:nvSpPr>
              <p:cNvPr id="23" name="矩形: 圆角 22"/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双波形 23"/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Times New Roman" panose="02020603050405020304" pitchFamily="18" charset="0"/>
                    <a:ea typeface="宋体" panose="02010600030101010101" pitchFamily="2" charset="-122"/>
                    <a:cs typeface="Ebrima" panose="02000000000000000000" pitchFamily="2" charset="0"/>
                  </a:rPr>
                  <a:t>账本</a:t>
                </a:r>
                <a:endParaRPr lang="zh-CN" altLang="en-US" sz="1300" dirty="0">
                  <a:latin typeface="Times New Roman" panose="02020603050405020304" pitchFamily="18" charset="0"/>
                  <a:ea typeface="宋体" panose="02010600030101010101" pitchFamily="2" charset="-122"/>
                  <a:cs typeface="Ebrima" panose="02000000000000000000" pitchFamily="2" charset="0"/>
                </a:endParaRPr>
              </a:p>
            </p:txBody>
          </p:sp>
          <p:sp>
            <p:nvSpPr>
              <p:cNvPr id="26" name="矩形: 折角 25"/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ea typeface="宋体" panose="02010600030101010101" pitchFamily="2" charset="-122"/>
                  </a:rPr>
                  <a:t>节点4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ea typeface="宋体" panose="02010600030101010101" pitchFamily="2" charset="-122"/>
                  </a:rPr>
                  <a:t>智能合约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 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7678874" y="4104826"/>
              <a:ext cx="0" cy="357936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>
              <a:off x="3991836" y="4104826"/>
              <a:ext cx="7799" cy="367012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/>
            <p:cNvGrpSpPr/>
            <p:nvPr/>
          </p:nvGrpSpPr>
          <p:grpSpPr>
            <a:xfrm>
              <a:off x="7448964" y="1974471"/>
              <a:ext cx="2254383" cy="1239620"/>
              <a:chOff x="2997337" y="4476750"/>
              <a:chExt cx="2254383" cy="1239620"/>
            </a:xfrm>
          </p:grpSpPr>
          <p:sp>
            <p:nvSpPr>
              <p:cNvPr id="34" name="矩形: 圆角 33"/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双波形 34"/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Times New Roman" panose="02020603050405020304" pitchFamily="18" charset="0"/>
                    <a:ea typeface="宋体" panose="02010600030101010101" pitchFamily="2" charset="-122"/>
                    <a:cs typeface="Ebrima" panose="02000000000000000000" pitchFamily="2" charset="0"/>
                  </a:rPr>
                  <a:t>账本</a:t>
                </a:r>
                <a:endParaRPr lang="zh-CN" altLang="en-US" sz="1300" dirty="0">
                  <a:latin typeface="Times New Roman" panose="02020603050405020304" pitchFamily="18" charset="0"/>
                  <a:ea typeface="宋体" panose="02010600030101010101" pitchFamily="2" charset="-122"/>
                  <a:cs typeface="Ebrima" panose="02000000000000000000" pitchFamily="2" charset="0"/>
                </a:endParaRPr>
              </a:p>
            </p:txBody>
          </p:sp>
          <p:sp>
            <p:nvSpPr>
              <p:cNvPr id="37" name="矩形: 折角 36"/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ea typeface="宋体" panose="02010600030101010101" pitchFamily="2" charset="-122"/>
                  </a:rPr>
                  <a:t>节点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3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ea typeface="宋体" panose="02010600030101010101" pitchFamily="2" charset="-122"/>
                  </a:rPr>
                  <a:t>智能合约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 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0" name="直接连接符 39"/>
            <p:cNvCxnSpPr>
              <a:endCxn id="4" idx="7"/>
            </p:cNvCxnSpPr>
            <p:nvPr/>
          </p:nvCxnSpPr>
          <p:spPr>
            <a:xfrm flipH="1">
              <a:off x="8457221" y="2852738"/>
              <a:ext cx="2292" cy="594239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/>
            <p:cNvGrpSpPr/>
            <p:nvPr/>
          </p:nvGrpSpPr>
          <p:grpSpPr>
            <a:xfrm>
              <a:off x="2441186" y="2040611"/>
              <a:ext cx="2254383" cy="1239620"/>
              <a:chOff x="2997337" y="4476750"/>
              <a:chExt cx="2254383" cy="1239620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3562349" y="4476750"/>
                <a:ext cx="866775" cy="864000"/>
              </a:xfrm>
              <a:prstGeom prst="round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双波形 46"/>
              <p:cNvSpPr/>
              <p:nvPr/>
            </p:nvSpPr>
            <p:spPr>
              <a:xfrm>
                <a:off x="4223020" y="5148263"/>
                <a:ext cx="1028700" cy="542925"/>
              </a:xfrm>
              <a:prstGeom prst="doubleWav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4223020" y="5245776"/>
                <a:ext cx="966787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300" dirty="0">
                    <a:latin typeface="Times New Roman" panose="02020603050405020304" pitchFamily="18" charset="0"/>
                    <a:ea typeface="宋体" panose="02010600030101010101" pitchFamily="2" charset="-122"/>
                    <a:cs typeface="Ebrima" panose="02000000000000000000" pitchFamily="2" charset="0"/>
                  </a:rPr>
                  <a:t>账本</a:t>
                </a:r>
                <a:endParaRPr lang="zh-CN" altLang="en-US" sz="1300" dirty="0">
                  <a:latin typeface="Times New Roman" panose="02020603050405020304" pitchFamily="18" charset="0"/>
                  <a:ea typeface="宋体" panose="02010600030101010101" pitchFamily="2" charset="-122"/>
                  <a:cs typeface="Ebrima" panose="02000000000000000000" pitchFamily="2" charset="0"/>
                </a:endParaRPr>
              </a:p>
            </p:txBody>
          </p:sp>
          <p:sp>
            <p:nvSpPr>
              <p:cNvPr id="49" name="矩形: 折角 48"/>
              <p:cNvSpPr/>
              <p:nvPr/>
            </p:nvSpPr>
            <p:spPr>
              <a:xfrm>
                <a:off x="3149738" y="5082957"/>
                <a:ext cx="685798" cy="633413"/>
              </a:xfrm>
              <a:prstGeom prst="foldedCorner">
                <a:avLst>
                  <a:gd name="adj" fmla="val 39223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3500436" y="4735354"/>
                <a:ext cx="9906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 sz="1300" dirty="0">
                    <a:ea typeface="宋体" panose="02010600030101010101" pitchFamily="2" charset="-122"/>
                  </a:rPr>
                  <a:t>节点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1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2997337" y="5115938"/>
                <a:ext cx="990600" cy="271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ctr">
                  <a:defRPr sz="1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>
                  <a:lnSpc>
                    <a:spcPts val="1400"/>
                  </a:lnSpc>
                </a:pPr>
                <a:r>
                  <a:rPr lang="zh-CN" altLang="en-US" sz="1300" dirty="0">
                    <a:ea typeface="宋体" panose="02010600030101010101" pitchFamily="2" charset="-122"/>
                  </a:rPr>
                  <a:t>智能合约</a:t>
                </a:r>
                <a:r>
                  <a:rPr lang="en-US" altLang="zh-CN" sz="1300" dirty="0">
                    <a:ea typeface="宋体" panose="02010600030101010101" pitchFamily="2" charset="-122"/>
                  </a:rPr>
                  <a:t> </a:t>
                </a:r>
                <a:endParaRPr lang="zh-CN" altLang="en-US" sz="1300" dirty="0"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2" name="直接连接符 51"/>
            <p:cNvCxnSpPr/>
            <p:nvPr/>
          </p:nvCxnSpPr>
          <p:spPr>
            <a:xfrm flipH="1">
              <a:off x="3449443" y="2918878"/>
              <a:ext cx="2292" cy="540000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5940561" y="4162425"/>
              <a:ext cx="0" cy="228600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: 圆角 55"/>
            <p:cNvSpPr/>
            <p:nvPr/>
          </p:nvSpPr>
          <p:spPr>
            <a:xfrm>
              <a:off x="5251720" y="4393406"/>
              <a:ext cx="1399110" cy="367012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245245" y="4391025"/>
              <a:ext cx="14252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3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排序服务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等腰三角形 58"/>
            <p:cNvSpPr/>
            <p:nvPr/>
          </p:nvSpPr>
          <p:spPr>
            <a:xfrm>
              <a:off x="3166937" y="958849"/>
              <a:ext cx="540000" cy="468000"/>
            </a:xfrm>
            <a:prstGeom prst="triangl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等腰三角形 59"/>
            <p:cNvSpPr/>
            <p:nvPr/>
          </p:nvSpPr>
          <p:spPr>
            <a:xfrm>
              <a:off x="8169564" y="958849"/>
              <a:ext cx="540000" cy="468000"/>
            </a:xfrm>
            <a:prstGeom prst="triangle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10582685" y="1548615"/>
              <a:ext cx="0" cy="4018729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>
              <a:off x="10342179" y="1948179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>
              <a:off x="9599229" y="2121890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>
              <a:off x="10342384" y="4997591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>
              <a:off x="9599434" y="4866502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/>
            <p:cNvSpPr txBox="1"/>
            <p:nvPr/>
          </p:nvSpPr>
          <p:spPr>
            <a:xfrm>
              <a:off x="9496424" y="185509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SDK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0219215" y="167117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API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9484074" y="4612641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SDK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0219215" y="4717458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API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>
              <a:off x="9839530" y="1809679"/>
              <a:ext cx="0" cy="3610046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矩形 76"/>
            <p:cNvSpPr/>
            <p:nvPr/>
          </p:nvSpPr>
          <p:spPr>
            <a:xfrm>
              <a:off x="9954525" y="2353869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9954525" y="3093752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9954525" y="3833635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9957330" y="2476258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9973337" y="3218480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9970953" y="3960475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36" name="组合 135"/>
            <p:cNvGrpSpPr/>
            <p:nvPr/>
          </p:nvGrpSpPr>
          <p:grpSpPr>
            <a:xfrm>
              <a:off x="10886009" y="1571523"/>
              <a:ext cx="835395" cy="2845592"/>
              <a:chOff x="10886009" y="1571523"/>
              <a:chExt cx="835395" cy="2845592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0886009" y="22902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>
                <a:off x="11034318" y="25062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 rot="16200000">
                <a:off x="11031340" y="25471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椭圆 87"/>
              <p:cNvSpPr/>
              <p:nvPr/>
            </p:nvSpPr>
            <p:spPr>
              <a:xfrm>
                <a:off x="11258550" y="21372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流程图: 延期 88"/>
              <p:cNvSpPr/>
              <p:nvPr/>
            </p:nvSpPr>
            <p:spPr>
              <a:xfrm rot="16200000">
                <a:off x="11221537" y="23395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10896148" y="2869524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1" name="直接连接符 90"/>
              <p:cNvCxnSpPr/>
              <p:nvPr/>
            </p:nvCxnSpPr>
            <p:spPr>
              <a:xfrm>
                <a:off x="11044457" y="3085524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 rot="16200000">
                <a:off x="11041479" y="3126382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椭圆 92"/>
              <p:cNvSpPr/>
              <p:nvPr/>
            </p:nvSpPr>
            <p:spPr>
              <a:xfrm>
                <a:off x="11268689" y="271650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流程图: 延期 93"/>
              <p:cNvSpPr/>
              <p:nvPr/>
            </p:nvSpPr>
            <p:spPr>
              <a:xfrm rot="16200000">
                <a:off x="11231676" y="291881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10899937" y="34297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6" name="直接连接符 95"/>
              <p:cNvCxnSpPr/>
              <p:nvPr/>
            </p:nvCxnSpPr>
            <p:spPr>
              <a:xfrm>
                <a:off x="11048246" y="36457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/>
              <p:nvPr/>
            </p:nvCxnSpPr>
            <p:spPr>
              <a:xfrm rot="16200000">
                <a:off x="11045268" y="36866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椭圆 97"/>
              <p:cNvSpPr/>
              <p:nvPr/>
            </p:nvSpPr>
            <p:spPr>
              <a:xfrm>
                <a:off x="11272478" y="32767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流程图: 延期 98"/>
              <p:cNvSpPr/>
              <p:nvPr/>
            </p:nvSpPr>
            <p:spPr>
              <a:xfrm rot="16200000">
                <a:off x="11235465" y="34790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1258551" y="157152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流程图: 延期 100"/>
              <p:cNvSpPr/>
              <p:nvPr/>
            </p:nvSpPr>
            <p:spPr>
              <a:xfrm rot="16200000">
                <a:off x="11221538" y="177383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矩形: 圆角 101"/>
              <p:cNvSpPr/>
              <p:nvPr/>
            </p:nvSpPr>
            <p:spPr>
              <a:xfrm>
                <a:off x="11039719" y="1786864"/>
                <a:ext cx="153154" cy="27699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4" name="直接连接符 103"/>
              <p:cNvCxnSpPr/>
              <p:nvPr/>
            </p:nvCxnSpPr>
            <p:spPr>
              <a:xfrm>
                <a:off x="11056971" y="1967327"/>
                <a:ext cx="13590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椭圆 104"/>
              <p:cNvSpPr/>
              <p:nvPr/>
            </p:nvSpPr>
            <p:spPr>
              <a:xfrm>
                <a:off x="11095479" y="1985328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11087961" y="3877115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10994517" y="3923128"/>
                <a:ext cx="7268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200" b="1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defRPr>
                </a:lvl1pPr>
              </a:lstStyle>
              <a:p>
                <a:pPr algn="ctr"/>
                <a:r>
                  <a:rPr lang="zh-CN" altLang="en-US" b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ERP</a:t>
                </a:r>
                <a:endPara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b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系统</a:t>
                </a:r>
                <a:endParaRPr lang="zh-CN" altLang="en-US" b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10703005" y="4528895"/>
              <a:ext cx="886582" cy="854972"/>
              <a:chOff x="10704332" y="4540868"/>
              <a:chExt cx="886582" cy="854972"/>
            </a:xfrm>
          </p:grpSpPr>
          <p:sp>
            <p:nvSpPr>
              <p:cNvPr id="119" name="流程图: 手动操作 118"/>
              <p:cNvSpPr/>
              <p:nvPr/>
            </p:nvSpPr>
            <p:spPr>
              <a:xfrm>
                <a:off x="11192873" y="4603342"/>
                <a:ext cx="337151" cy="138446"/>
              </a:xfrm>
              <a:prstGeom prst="flowChartManualOperatio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1136962" y="4540868"/>
                <a:ext cx="453952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11265145" y="4746377"/>
                <a:ext cx="198193" cy="1153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1138072" y="4869476"/>
                <a:ext cx="444617" cy="52636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11219548" y="4954189"/>
                <a:ext cx="288000" cy="201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1220818" y="5194384"/>
                <a:ext cx="288000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流程图: 延期 114"/>
              <p:cNvSpPr/>
              <p:nvPr/>
            </p:nvSpPr>
            <p:spPr>
              <a:xfrm rot="10800000">
                <a:off x="10704332" y="5165680"/>
                <a:ext cx="430579" cy="86411"/>
              </a:xfrm>
              <a:custGeom>
                <a:avLst/>
                <a:gdLst>
                  <a:gd name="connsiteX0" fmla="*/ 0 w 444617"/>
                  <a:gd name="connsiteY0" fmla="*/ 0 h 86297"/>
                  <a:gd name="connsiteX1" fmla="*/ 222309 w 444617"/>
                  <a:gd name="connsiteY1" fmla="*/ 0 h 86297"/>
                  <a:gd name="connsiteX2" fmla="*/ 444618 w 444617"/>
                  <a:gd name="connsiteY2" fmla="*/ 43149 h 86297"/>
                  <a:gd name="connsiteX3" fmla="*/ 222309 w 444617"/>
                  <a:gd name="connsiteY3" fmla="*/ 86298 h 86297"/>
                  <a:gd name="connsiteX4" fmla="*/ 0 w 444617"/>
                  <a:gd name="connsiteY4" fmla="*/ 86297 h 86297"/>
                  <a:gd name="connsiteX5" fmla="*/ 0 w 444617"/>
                  <a:gd name="connsiteY5" fmla="*/ 0 h 86297"/>
                  <a:gd name="connsiteX0-1" fmla="*/ 0 w 450092"/>
                  <a:gd name="connsiteY0-2" fmla="*/ 0 h 91061"/>
                  <a:gd name="connsiteX1-3" fmla="*/ 222309 w 450092"/>
                  <a:gd name="connsiteY1-4" fmla="*/ 0 h 91061"/>
                  <a:gd name="connsiteX2-5" fmla="*/ 444618 w 450092"/>
                  <a:gd name="connsiteY2-6" fmla="*/ 43149 h 91061"/>
                  <a:gd name="connsiteX3-7" fmla="*/ 322322 w 450092"/>
                  <a:gd name="connsiteY3-8" fmla="*/ 91061 h 91061"/>
                  <a:gd name="connsiteX4-9" fmla="*/ 0 w 450092"/>
                  <a:gd name="connsiteY4-10" fmla="*/ 86297 h 91061"/>
                  <a:gd name="connsiteX5-11" fmla="*/ 0 w 450092"/>
                  <a:gd name="connsiteY5-12" fmla="*/ 0 h 91061"/>
                  <a:gd name="connsiteX0-13" fmla="*/ 0 w 445341"/>
                  <a:gd name="connsiteY0-14" fmla="*/ 0 h 91061"/>
                  <a:gd name="connsiteX1-15" fmla="*/ 331846 w 445341"/>
                  <a:gd name="connsiteY1-16" fmla="*/ 0 h 91061"/>
                  <a:gd name="connsiteX2-17" fmla="*/ 444618 w 445341"/>
                  <a:gd name="connsiteY2-18" fmla="*/ 43149 h 91061"/>
                  <a:gd name="connsiteX3-19" fmla="*/ 322322 w 445341"/>
                  <a:gd name="connsiteY3-20" fmla="*/ 91061 h 91061"/>
                  <a:gd name="connsiteX4-21" fmla="*/ 0 w 445341"/>
                  <a:gd name="connsiteY4-22" fmla="*/ 86297 h 91061"/>
                  <a:gd name="connsiteX5-23" fmla="*/ 0 w 445341"/>
                  <a:gd name="connsiteY5-24" fmla="*/ 0 h 91061"/>
                  <a:gd name="connsiteX0-25" fmla="*/ 0 w 445476"/>
                  <a:gd name="connsiteY0-26" fmla="*/ 0 h 93442"/>
                  <a:gd name="connsiteX1-27" fmla="*/ 331846 w 445476"/>
                  <a:gd name="connsiteY1-28" fmla="*/ 0 h 93442"/>
                  <a:gd name="connsiteX2-29" fmla="*/ 444618 w 445476"/>
                  <a:gd name="connsiteY2-30" fmla="*/ 43149 h 93442"/>
                  <a:gd name="connsiteX3-31" fmla="*/ 336609 w 445476"/>
                  <a:gd name="connsiteY3-32" fmla="*/ 93442 h 93442"/>
                  <a:gd name="connsiteX4-33" fmla="*/ 0 w 445476"/>
                  <a:gd name="connsiteY4-34" fmla="*/ 86297 h 93442"/>
                  <a:gd name="connsiteX5-35" fmla="*/ 0 w 445476"/>
                  <a:gd name="connsiteY5-36" fmla="*/ 0 h 93442"/>
                  <a:gd name="connsiteX0-37" fmla="*/ 0 w 444638"/>
                  <a:gd name="connsiteY0-38" fmla="*/ 0 h 93442"/>
                  <a:gd name="connsiteX1-39" fmla="*/ 331846 w 444638"/>
                  <a:gd name="connsiteY1-40" fmla="*/ 0 h 93442"/>
                  <a:gd name="connsiteX2-41" fmla="*/ 444618 w 444638"/>
                  <a:gd name="connsiteY2-42" fmla="*/ 43149 h 93442"/>
                  <a:gd name="connsiteX3-43" fmla="*/ 336609 w 444638"/>
                  <a:gd name="connsiteY3-44" fmla="*/ 93442 h 93442"/>
                  <a:gd name="connsiteX4-45" fmla="*/ 0 w 444638"/>
                  <a:gd name="connsiteY4-46" fmla="*/ 86297 h 93442"/>
                  <a:gd name="connsiteX5-47" fmla="*/ 0 w 444638"/>
                  <a:gd name="connsiteY5-48" fmla="*/ 0 h 93442"/>
                  <a:gd name="connsiteX0-49" fmla="*/ 0 w 431937"/>
                  <a:gd name="connsiteY0-50" fmla="*/ 0 h 93442"/>
                  <a:gd name="connsiteX1-51" fmla="*/ 331846 w 431937"/>
                  <a:gd name="connsiteY1-52" fmla="*/ 0 h 93442"/>
                  <a:gd name="connsiteX2-53" fmla="*/ 430331 w 431937"/>
                  <a:gd name="connsiteY2-54" fmla="*/ 47912 h 93442"/>
                  <a:gd name="connsiteX3-55" fmla="*/ 336609 w 431937"/>
                  <a:gd name="connsiteY3-56" fmla="*/ 93442 h 93442"/>
                  <a:gd name="connsiteX4-57" fmla="*/ 0 w 431937"/>
                  <a:gd name="connsiteY4-58" fmla="*/ 86297 h 93442"/>
                  <a:gd name="connsiteX5-59" fmla="*/ 0 w 431937"/>
                  <a:gd name="connsiteY5-60" fmla="*/ 0 h 93442"/>
                  <a:gd name="connsiteX0-61" fmla="*/ 0 w 430382"/>
                  <a:gd name="connsiteY0-62" fmla="*/ 116 h 93558"/>
                  <a:gd name="connsiteX1-63" fmla="*/ 331846 w 430382"/>
                  <a:gd name="connsiteY1-64" fmla="*/ 116 h 93558"/>
                  <a:gd name="connsiteX2-65" fmla="*/ 430331 w 430382"/>
                  <a:gd name="connsiteY2-66" fmla="*/ 48028 h 93558"/>
                  <a:gd name="connsiteX3-67" fmla="*/ 336609 w 430382"/>
                  <a:gd name="connsiteY3-68" fmla="*/ 93558 h 93558"/>
                  <a:gd name="connsiteX4-69" fmla="*/ 0 w 430382"/>
                  <a:gd name="connsiteY4-70" fmla="*/ 86413 h 93558"/>
                  <a:gd name="connsiteX5-71" fmla="*/ 0 w 430382"/>
                  <a:gd name="connsiteY5-72" fmla="*/ 116 h 93558"/>
                  <a:gd name="connsiteX0-73" fmla="*/ 0 w 430579"/>
                  <a:gd name="connsiteY0-74" fmla="*/ 113 h 86411"/>
                  <a:gd name="connsiteX1-75" fmla="*/ 331846 w 430579"/>
                  <a:gd name="connsiteY1-76" fmla="*/ 113 h 86411"/>
                  <a:gd name="connsiteX2-77" fmla="*/ 430331 w 430579"/>
                  <a:gd name="connsiteY2-78" fmla="*/ 48025 h 86411"/>
                  <a:gd name="connsiteX3-79" fmla="*/ 341372 w 430579"/>
                  <a:gd name="connsiteY3-80" fmla="*/ 86411 h 86411"/>
                  <a:gd name="connsiteX4-81" fmla="*/ 0 w 430579"/>
                  <a:gd name="connsiteY4-82" fmla="*/ 86410 h 86411"/>
                  <a:gd name="connsiteX5-83" fmla="*/ 0 w 430579"/>
                  <a:gd name="connsiteY5-84" fmla="*/ 113 h 864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430579" h="86411">
                    <a:moveTo>
                      <a:pt x="0" y="113"/>
                    </a:moveTo>
                    <a:lnTo>
                      <a:pt x="331846" y="113"/>
                    </a:lnTo>
                    <a:cubicBezTo>
                      <a:pt x="421286" y="-2268"/>
                      <a:pt x="428743" y="33642"/>
                      <a:pt x="430331" y="48025"/>
                    </a:cubicBezTo>
                    <a:cubicBezTo>
                      <a:pt x="431919" y="62408"/>
                      <a:pt x="428431" y="81649"/>
                      <a:pt x="341372" y="86411"/>
                    </a:cubicBezTo>
                    <a:lnTo>
                      <a:pt x="0" y="8641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0791840" y="5257342"/>
                <a:ext cx="94170" cy="13849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7" name="组合 126"/>
            <p:cNvGrpSpPr/>
            <p:nvPr/>
          </p:nvGrpSpPr>
          <p:grpSpPr>
            <a:xfrm flipH="1">
              <a:off x="617920" y="4539493"/>
              <a:ext cx="886582" cy="854972"/>
              <a:chOff x="10704332" y="4540868"/>
              <a:chExt cx="886582" cy="854972"/>
            </a:xfrm>
          </p:grpSpPr>
          <p:sp>
            <p:nvSpPr>
              <p:cNvPr id="128" name="流程图: 手动操作 127"/>
              <p:cNvSpPr/>
              <p:nvPr/>
            </p:nvSpPr>
            <p:spPr>
              <a:xfrm>
                <a:off x="11192873" y="4603342"/>
                <a:ext cx="337151" cy="138446"/>
              </a:xfrm>
              <a:prstGeom prst="flowChartManualOperation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11136962" y="4540868"/>
                <a:ext cx="453952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265145" y="4746377"/>
                <a:ext cx="198193" cy="11536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11138072" y="4869476"/>
                <a:ext cx="444617" cy="52636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11219548" y="4954189"/>
                <a:ext cx="288000" cy="201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矩形 132"/>
              <p:cNvSpPr/>
              <p:nvPr/>
            </p:nvSpPr>
            <p:spPr>
              <a:xfrm>
                <a:off x="11220818" y="5194384"/>
                <a:ext cx="288000" cy="576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流程图: 延期 114"/>
              <p:cNvSpPr/>
              <p:nvPr/>
            </p:nvSpPr>
            <p:spPr>
              <a:xfrm rot="10800000">
                <a:off x="10704332" y="5165680"/>
                <a:ext cx="430579" cy="86411"/>
              </a:xfrm>
              <a:custGeom>
                <a:avLst/>
                <a:gdLst>
                  <a:gd name="connsiteX0" fmla="*/ 0 w 444617"/>
                  <a:gd name="connsiteY0" fmla="*/ 0 h 86297"/>
                  <a:gd name="connsiteX1" fmla="*/ 222309 w 444617"/>
                  <a:gd name="connsiteY1" fmla="*/ 0 h 86297"/>
                  <a:gd name="connsiteX2" fmla="*/ 444618 w 444617"/>
                  <a:gd name="connsiteY2" fmla="*/ 43149 h 86297"/>
                  <a:gd name="connsiteX3" fmla="*/ 222309 w 444617"/>
                  <a:gd name="connsiteY3" fmla="*/ 86298 h 86297"/>
                  <a:gd name="connsiteX4" fmla="*/ 0 w 444617"/>
                  <a:gd name="connsiteY4" fmla="*/ 86297 h 86297"/>
                  <a:gd name="connsiteX5" fmla="*/ 0 w 444617"/>
                  <a:gd name="connsiteY5" fmla="*/ 0 h 86297"/>
                  <a:gd name="connsiteX0-1" fmla="*/ 0 w 450092"/>
                  <a:gd name="connsiteY0-2" fmla="*/ 0 h 91061"/>
                  <a:gd name="connsiteX1-3" fmla="*/ 222309 w 450092"/>
                  <a:gd name="connsiteY1-4" fmla="*/ 0 h 91061"/>
                  <a:gd name="connsiteX2-5" fmla="*/ 444618 w 450092"/>
                  <a:gd name="connsiteY2-6" fmla="*/ 43149 h 91061"/>
                  <a:gd name="connsiteX3-7" fmla="*/ 322322 w 450092"/>
                  <a:gd name="connsiteY3-8" fmla="*/ 91061 h 91061"/>
                  <a:gd name="connsiteX4-9" fmla="*/ 0 w 450092"/>
                  <a:gd name="connsiteY4-10" fmla="*/ 86297 h 91061"/>
                  <a:gd name="connsiteX5-11" fmla="*/ 0 w 450092"/>
                  <a:gd name="connsiteY5-12" fmla="*/ 0 h 91061"/>
                  <a:gd name="connsiteX0-13" fmla="*/ 0 w 445341"/>
                  <a:gd name="connsiteY0-14" fmla="*/ 0 h 91061"/>
                  <a:gd name="connsiteX1-15" fmla="*/ 331846 w 445341"/>
                  <a:gd name="connsiteY1-16" fmla="*/ 0 h 91061"/>
                  <a:gd name="connsiteX2-17" fmla="*/ 444618 w 445341"/>
                  <a:gd name="connsiteY2-18" fmla="*/ 43149 h 91061"/>
                  <a:gd name="connsiteX3-19" fmla="*/ 322322 w 445341"/>
                  <a:gd name="connsiteY3-20" fmla="*/ 91061 h 91061"/>
                  <a:gd name="connsiteX4-21" fmla="*/ 0 w 445341"/>
                  <a:gd name="connsiteY4-22" fmla="*/ 86297 h 91061"/>
                  <a:gd name="connsiteX5-23" fmla="*/ 0 w 445341"/>
                  <a:gd name="connsiteY5-24" fmla="*/ 0 h 91061"/>
                  <a:gd name="connsiteX0-25" fmla="*/ 0 w 445476"/>
                  <a:gd name="connsiteY0-26" fmla="*/ 0 h 93442"/>
                  <a:gd name="connsiteX1-27" fmla="*/ 331846 w 445476"/>
                  <a:gd name="connsiteY1-28" fmla="*/ 0 h 93442"/>
                  <a:gd name="connsiteX2-29" fmla="*/ 444618 w 445476"/>
                  <a:gd name="connsiteY2-30" fmla="*/ 43149 h 93442"/>
                  <a:gd name="connsiteX3-31" fmla="*/ 336609 w 445476"/>
                  <a:gd name="connsiteY3-32" fmla="*/ 93442 h 93442"/>
                  <a:gd name="connsiteX4-33" fmla="*/ 0 w 445476"/>
                  <a:gd name="connsiteY4-34" fmla="*/ 86297 h 93442"/>
                  <a:gd name="connsiteX5-35" fmla="*/ 0 w 445476"/>
                  <a:gd name="connsiteY5-36" fmla="*/ 0 h 93442"/>
                  <a:gd name="connsiteX0-37" fmla="*/ 0 w 444638"/>
                  <a:gd name="connsiteY0-38" fmla="*/ 0 h 93442"/>
                  <a:gd name="connsiteX1-39" fmla="*/ 331846 w 444638"/>
                  <a:gd name="connsiteY1-40" fmla="*/ 0 h 93442"/>
                  <a:gd name="connsiteX2-41" fmla="*/ 444618 w 444638"/>
                  <a:gd name="connsiteY2-42" fmla="*/ 43149 h 93442"/>
                  <a:gd name="connsiteX3-43" fmla="*/ 336609 w 444638"/>
                  <a:gd name="connsiteY3-44" fmla="*/ 93442 h 93442"/>
                  <a:gd name="connsiteX4-45" fmla="*/ 0 w 444638"/>
                  <a:gd name="connsiteY4-46" fmla="*/ 86297 h 93442"/>
                  <a:gd name="connsiteX5-47" fmla="*/ 0 w 444638"/>
                  <a:gd name="connsiteY5-48" fmla="*/ 0 h 93442"/>
                  <a:gd name="connsiteX0-49" fmla="*/ 0 w 431937"/>
                  <a:gd name="connsiteY0-50" fmla="*/ 0 h 93442"/>
                  <a:gd name="connsiteX1-51" fmla="*/ 331846 w 431937"/>
                  <a:gd name="connsiteY1-52" fmla="*/ 0 h 93442"/>
                  <a:gd name="connsiteX2-53" fmla="*/ 430331 w 431937"/>
                  <a:gd name="connsiteY2-54" fmla="*/ 47912 h 93442"/>
                  <a:gd name="connsiteX3-55" fmla="*/ 336609 w 431937"/>
                  <a:gd name="connsiteY3-56" fmla="*/ 93442 h 93442"/>
                  <a:gd name="connsiteX4-57" fmla="*/ 0 w 431937"/>
                  <a:gd name="connsiteY4-58" fmla="*/ 86297 h 93442"/>
                  <a:gd name="connsiteX5-59" fmla="*/ 0 w 431937"/>
                  <a:gd name="connsiteY5-60" fmla="*/ 0 h 93442"/>
                  <a:gd name="connsiteX0-61" fmla="*/ 0 w 430382"/>
                  <a:gd name="connsiteY0-62" fmla="*/ 116 h 93558"/>
                  <a:gd name="connsiteX1-63" fmla="*/ 331846 w 430382"/>
                  <a:gd name="connsiteY1-64" fmla="*/ 116 h 93558"/>
                  <a:gd name="connsiteX2-65" fmla="*/ 430331 w 430382"/>
                  <a:gd name="connsiteY2-66" fmla="*/ 48028 h 93558"/>
                  <a:gd name="connsiteX3-67" fmla="*/ 336609 w 430382"/>
                  <a:gd name="connsiteY3-68" fmla="*/ 93558 h 93558"/>
                  <a:gd name="connsiteX4-69" fmla="*/ 0 w 430382"/>
                  <a:gd name="connsiteY4-70" fmla="*/ 86413 h 93558"/>
                  <a:gd name="connsiteX5-71" fmla="*/ 0 w 430382"/>
                  <a:gd name="connsiteY5-72" fmla="*/ 116 h 93558"/>
                  <a:gd name="connsiteX0-73" fmla="*/ 0 w 430579"/>
                  <a:gd name="connsiteY0-74" fmla="*/ 113 h 86411"/>
                  <a:gd name="connsiteX1-75" fmla="*/ 331846 w 430579"/>
                  <a:gd name="connsiteY1-76" fmla="*/ 113 h 86411"/>
                  <a:gd name="connsiteX2-77" fmla="*/ 430331 w 430579"/>
                  <a:gd name="connsiteY2-78" fmla="*/ 48025 h 86411"/>
                  <a:gd name="connsiteX3-79" fmla="*/ 341372 w 430579"/>
                  <a:gd name="connsiteY3-80" fmla="*/ 86411 h 86411"/>
                  <a:gd name="connsiteX4-81" fmla="*/ 0 w 430579"/>
                  <a:gd name="connsiteY4-82" fmla="*/ 86410 h 86411"/>
                  <a:gd name="connsiteX5-83" fmla="*/ 0 w 430579"/>
                  <a:gd name="connsiteY5-84" fmla="*/ 113 h 8641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430579" h="86411">
                    <a:moveTo>
                      <a:pt x="0" y="113"/>
                    </a:moveTo>
                    <a:lnTo>
                      <a:pt x="331846" y="113"/>
                    </a:lnTo>
                    <a:cubicBezTo>
                      <a:pt x="421286" y="-2268"/>
                      <a:pt x="428743" y="33642"/>
                      <a:pt x="430331" y="48025"/>
                    </a:cubicBezTo>
                    <a:cubicBezTo>
                      <a:pt x="431919" y="62408"/>
                      <a:pt x="428431" y="81649"/>
                      <a:pt x="341372" y="86411"/>
                    </a:cubicBezTo>
                    <a:lnTo>
                      <a:pt x="0" y="8641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10791840" y="5257342"/>
                <a:ext cx="94170" cy="13849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 flipH="1">
              <a:off x="475255" y="1548615"/>
              <a:ext cx="835395" cy="2845592"/>
              <a:chOff x="10886009" y="1571523"/>
              <a:chExt cx="835395" cy="2845592"/>
            </a:xfrm>
          </p:grpSpPr>
          <p:sp>
            <p:nvSpPr>
              <p:cNvPr id="138" name="矩形 137"/>
              <p:cNvSpPr/>
              <p:nvPr/>
            </p:nvSpPr>
            <p:spPr>
              <a:xfrm>
                <a:off x="10886009" y="22902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9" name="直接连接符 138"/>
              <p:cNvCxnSpPr/>
              <p:nvPr/>
            </p:nvCxnSpPr>
            <p:spPr>
              <a:xfrm>
                <a:off x="11034318" y="25062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rot="16200000">
                <a:off x="11031340" y="25471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椭圆 140"/>
              <p:cNvSpPr/>
              <p:nvPr/>
            </p:nvSpPr>
            <p:spPr>
              <a:xfrm>
                <a:off x="11258550" y="21372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流程图: 延期 141"/>
              <p:cNvSpPr/>
              <p:nvPr/>
            </p:nvSpPr>
            <p:spPr>
              <a:xfrm rot="16200000">
                <a:off x="11221537" y="23395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矩形 142"/>
              <p:cNvSpPr/>
              <p:nvPr/>
            </p:nvSpPr>
            <p:spPr>
              <a:xfrm>
                <a:off x="10896148" y="2869524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4" name="直接连接符 143"/>
              <p:cNvCxnSpPr/>
              <p:nvPr/>
            </p:nvCxnSpPr>
            <p:spPr>
              <a:xfrm>
                <a:off x="11044457" y="3085524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 rot="16200000">
                <a:off x="11041479" y="3126382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椭圆 145"/>
              <p:cNvSpPr/>
              <p:nvPr/>
            </p:nvSpPr>
            <p:spPr>
              <a:xfrm>
                <a:off x="11268689" y="271650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" name="流程图: 延期 146"/>
              <p:cNvSpPr/>
              <p:nvPr/>
            </p:nvSpPr>
            <p:spPr>
              <a:xfrm rot="16200000">
                <a:off x="11231676" y="291881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矩形 147"/>
              <p:cNvSpPr/>
              <p:nvPr/>
            </p:nvSpPr>
            <p:spPr>
              <a:xfrm>
                <a:off x="10899937" y="3429749"/>
                <a:ext cx="288000" cy="216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9" name="直接连接符 148"/>
              <p:cNvCxnSpPr/>
              <p:nvPr/>
            </p:nvCxnSpPr>
            <p:spPr>
              <a:xfrm>
                <a:off x="11048246" y="3645749"/>
                <a:ext cx="0" cy="10800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16200000">
                <a:off x="11045268" y="3686607"/>
                <a:ext cx="0" cy="144000"/>
              </a:xfrm>
              <a:prstGeom prst="line">
                <a:avLst/>
              </a:prstGeom>
              <a:ln w="222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椭圆 150"/>
              <p:cNvSpPr/>
              <p:nvPr/>
            </p:nvSpPr>
            <p:spPr>
              <a:xfrm>
                <a:off x="11272478" y="3276728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流程图: 延期 151"/>
              <p:cNvSpPr/>
              <p:nvPr/>
            </p:nvSpPr>
            <p:spPr>
              <a:xfrm rot="16200000">
                <a:off x="11235465" y="3479039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>
                <a:off x="11258551" y="1571523"/>
                <a:ext cx="200025" cy="2016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流程图: 延期 153"/>
              <p:cNvSpPr/>
              <p:nvPr/>
            </p:nvSpPr>
            <p:spPr>
              <a:xfrm rot="16200000">
                <a:off x="11221538" y="1773834"/>
                <a:ext cx="274052" cy="274179"/>
              </a:xfrm>
              <a:prstGeom prst="flowChartDelay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矩形: 圆角 154"/>
              <p:cNvSpPr/>
              <p:nvPr/>
            </p:nvSpPr>
            <p:spPr>
              <a:xfrm>
                <a:off x="11039719" y="1786864"/>
                <a:ext cx="153154" cy="27699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6" name="直接连接符 155"/>
              <p:cNvCxnSpPr/>
              <p:nvPr/>
            </p:nvCxnSpPr>
            <p:spPr>
              <a:xfrm>
                <a:off x="11056971" y="1967327"/>
                <a:ext cx="13590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椭圆 156"/>
              <p:cNvSpPr/>
              <p:nvPr/>
            </p:nvSpPr>
            <p:spPr>
              <a:xfrm>
                <a:off x="11095479" y="1985328"/>
                <a:ext cx="36000" cy="36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矩形 157"/>
              <p:cNvSpPr/>
              <p:nvPr/>
            </p:nvSpPr>
            <p:spPr>
              <a:xfrm>
                <a:off x="11087961" y="3877115"/>
                <a:ext cx="540000" cy="540000"/>
              </a:xfrm>
              <a:prstGeom prst="rect">
                <a:avLst/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0994517" y="3923128"/>
                <a:ext cx="7268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1200" b="1"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defRPr>
                </a:lvl1pPr>
              </a:lstStyle>
              <a:p>
                <a:pPr algn="ctr"/>
                <a:r>
                  <a:rPr lang="zh-CN" altLang="en-US" b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ERP</a:t>
                </a:r>
                <a:endParaRPr lang="en-US" altLang="zh-CN" b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b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系统</a:t>
                </a:r>
                <a:endParaRPr lang="zh-CN" altLang="en-US" b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60" name="直接连接符 159"/>
            <p:cNvCxnSpPr/>
            <p:nvPr/>
          </p:nvCxnSpPr>
          <p:spPr>
            <a:xfrm flipH="1">
              <a:off x="1605041" y="1548615"/>
              <a:ext cx="0" cy="4018729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/>
            <p:cNvCxnSpPr/>
            <p:nvPr/>
          </p:nvCxnSpPr>
          <p:spPr>
            <a:xfrm flipH="1">
              <a:off x="1364945" y="1948179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箭头连接符 161"/>
            <p:cNvCxnSpPr/>
            <p:nvPr/>
          </p:nvCxnSpPr>
          <p:spPr>
            <a:xfrm flipH="1">
              <a:off x="2107895" y="2083790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箭头连接符 162"/>
            <p:cNvCxnSpPr/>
            <p:nvPr/>
          </p:nvCxnSpPr>
          <p:spPr>
            <a:xfrm flipH="1">
              <a:off x="1364740" y="4997591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箭头连接符 163"/>
            <p:cNvCxnSpPr/>
            <p:nvPr/>
          </p:nvCxnSpPr>
          <p:spPr>
            <a:xfrm flipH="1">
              <a:off x="2107690" y="4841102"/>
              <a:ext cx="48060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文本框 164"/>
            <p:cNvSpPr txBox="1"/>
            <p:nvPr/>
          </p:nvSpPr>
          <p:spPr>
            <a:xfrm flipH="1">
              <a:off x="2004522" y="182334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SDK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 flipH="1">
              <a:off x="2016872" y="4574541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SDK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67" name="直接连接符 166"/>
            <p:cNvCxnSpPr/>
            <p:nvPr/>
          </p:nvCxnSpPr>
          <p:spPr>
            <a:xfrm flipH="1">
              <a:off x="2348196" y="1809679"/>
              <a:ext cx="0" cy="3610046"/>
            </a:xfrm>
            <a:prstGeom prst="line">
              <a:avLst/>
            </a:prstGeom>
            <a:ln w="2222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矩形 167"/>
            <p:cNvSpPr/>
            <p:nvPr/>
          </p:nvSpPr>
          <p:spPr>
            <a:xfrm flipH="1">
              <a:off x="1693201" y="2353869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9" name="矩形 168"/>
            <p:cNvSpPr/>
            <p:nvPr/>
          </p:nvSpPr>
          <p:spPr>
            <a:xfrm flipH="1">
              <a:off x="1693201" y="3093752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0" name="矩形 169"/>
            <p:cNvSpPr/>
            <p:nvPr/>
          </p:nvSpPr>
          <p:spPr>
            <a:xfrm flipH="1">
              <a:off x="1693201" y="3833635"/>
              <a:ext cx="540000" cy="540000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1" name="文本框 170"/>
            <p:cNvSpPr txBox="1"/>
            <p:nvPr/>
          </p:nvSpPr>
          <p:spPr>
            <a:xfrm flipH="1">
              <a:off x="1710223" y="2476258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 flipH="1">
              <a:off x="1694216" y="3218480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3" name="文本框 172"/>
            <p:cNvSpPr txBox="1"/>
            <p:nvPr/>
          </p:nvSpPr>
          <p:spPr>
            <a:xfrm flipH="1">
              <a:off x="1678209" y="3960702"/>
              <a:ext cx="82497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1246820" y="1696925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API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1239175" y="4724069"/>
              <a:ext cx="6867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API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4894470" y="3603541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网络通道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7322428" y="1410000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组织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2341859" y="1410541"/>
              <a:ext cx="20972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组织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600076" y="1069620"/>
              <a:ext cx="10049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参与者 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10684895" y="1116308"/>
              <a:ext cx="10460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参与者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10818967" y="5369501"/>
              <a:ext cx="10460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494270" y="5353818"/>
              <a:ext cx="76992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1200" b="0">
                  <a:latin typeface="Ebrima" panose="02000000000000000000" pitchFamily="2" charset="0"/>
                  <a:ea typeface="Arial Unicode MS" panose="020B0604020202020204" pitchFamily="34" charset="-122"/>
                  <a:cs typeface="Ebrima" panose="02000000000000000000" pitchFamily="2" charset="0"/>
                </a:defRPr>
              </a:lvl1pPr>
            </a:lstStyle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6" name="直接箭头连接符 185"/>
            <p:cNvCxnSpPr/>
            <p:nvPr/>
          </p:nvCxnSpPr>
          <p:spPr>
            <a:xfrm>
              <a:off x="4988069" y="3346750"/>
              <a:ext cx="792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/>
            <p:cNvCxnSpPr/>
            <p:nvPr/>
          </p:nvCxnSpPr>
          <p:spPr>
            <a:xfrm flipH="1">
              <a:off x="6531119" y="4156375"/>
              <a:ext cx="79231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74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Ebrima</vt:lpstr>
      <vt:lpstr>Times New Roman</vt:lpstr>
      <vt:lpstr>Arial Unicode MS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 G</dc:creator>
  <cp:lastModifiedBy>Tino</cp:lastModifiedBy>
  <cp:revision>6</cp:revision>
  <dcterms:created xsi:type="dcterms:W3CDTF">2024-11-07T00:49:00Z</dcterms:created>
  <dcterms:modified xsi:type="dcterms:W3CDTF">2026-03-18T14:29:19Z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AFC992F1D01E444CB7B48E123334453B_12</vt:lpwstr>
  </property>
  <property fmtid="{D5CDD505-2E9C-101B-9397-08002B2CF9AE}" pid="3" name="KSOProductBuildVer">
    <vt:lpwstr>2052-12.1.0.25225</vt:lpwstr>
  </property>
</Properties>
</file>